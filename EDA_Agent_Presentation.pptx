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09728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B4D8"/>
                </a:solidFill>
              </a:rPr>
              <a:t>EDA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CCD6E0"/>
                </a:solidFill>
              </a:rPr>
              <a:t>LLM 驱动的智能 EDA 自动调优平台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290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0E0EF"/>
                </a:solidFill>
              </a:rPr>
              <a:t>架构  ·  工作流程  ·  CLI 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</a:rPr>
              <a:t>基于 OpenROAD Flow Scripts (ORFS) | MiniMax ReAct Planner |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什么是 EDA Agent？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100584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🎯 核心定位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0789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用大语言模型（LLM）驱动的自动化 EDA 助手，专注于 VLSI 设计的 PPA（性能/功耗/面积）调优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56816"/>
            <a:ext cx="731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⚙️ 主要能力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93852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自动运行 EDA 流程阶段、解析报告、持久化结果，并通过 ReAct 推理循环自主调整参数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16352"/>
            <a:ext cx="731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9806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�� 后端支持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79806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OpenROAD Flow Scripts (ORFS) 完整实现；Cadence Innovus、Synopsys ICC2 扩展接口预留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75888"/>
            <a:ext cx="731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🤖 AI 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MiniMax 2.5（OpenAI 兼容接口）驱动的 ReAct Planner，支持多轮对话与工具调用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35424"/>
            <a:ext cx="731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171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🗄️ 数据存储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51713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PostgreSQL + PostGIS 持久化所有运行数据；Parquet 归档备用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94960"/>
            <a:ext cx="73152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76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🌐 接入方式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537667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交互式 CLI（eda-agent）+ REST API（FastAPI）+ 异步任务队列，灵活选择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713232"/>
          </a:xfrm>
          <a:prstGeom prst="rect">
            <a:avLst/>
          </a:prstGeom>
          <a:solidFill>
            <a:srgbClr val="10C4E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064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接入层 (Interface)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06424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CLI / REST API / Job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764792"/>
            <a:ext cx="274320" cy="914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56232"/>
            <a:ext cx="11247120" cy="713232"/>
          </a:xfrm>
          <a:prstGeom prst="rect">
            <a:avLst/>
          </a:prstGeom>
          <a:solidFill>
            <a:srgbClr val="B88CFF"/>
          </a:solidFill>
          <a:ln w="1905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110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Agent 层 (Agent)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11096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ReAct Planner · Tool Registry · Session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569464"/>
            <a:ext cx="274320" cy="914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60904"/>
            <a:ext cx="11247120" cy="713232"/>
          </a:xfrm>
          <a:prstGeom prst="rect">
            <a:avLst/>
          </a:prstGeom>
          <a:solidFill>
            <a:srgbClr val="62C798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157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工具层 (Tools)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1576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run_eda_stage · query_timing · compare_runs · tune_ppa 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374136"/>
            <a:ext cx="274320" cy="914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65576"/>
            <a:ext cx="11247120" cy="713232"/>
          </a:xfrm>
          <a:prstGeom prst="rect">
            <a:avLst/>
          </a:prstGeom>
          <a:solidFill>
            <a:srgbClr val="FFB27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后端层 (Backends)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204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ORFS (OpenROAD)  |  Innovus stub  |  ICC2 stub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178808"/>
            <a:ext cx="274320" cy="914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270248"/>
            <a:ext cx="11247120" cy="713232"/>
          </a:xfrm>
          <a:prstGeom prst="rect">
            <a:avLst/>
          </a:prstGeom>
          <a:solidFill>
            <a:srgbClr val="A0F0FF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25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数据层 (Data)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32511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D1B2A"/>
                </a:solidFill>
              </a:rPr>
              <a:t>PostgreSQL + PostGIS · Alembic · Parquet Archiver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983480"/>
            <a:ext cx="274320" cy="9144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模块详解 — Backends 后端层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</a:rPr>
              <a:t>eda_agent/backends/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74320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base.py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AbstractEDABackend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2199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定义统一接口：run_stage() / ingest_reports()
DesignSpec · RunResult · StageStatus 数据结构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274320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B788"/>
                </a:solidFill>
              </a:rPr>
              <a:t>orfs.py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ORFS Backend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22199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调用 make 执行 synth / floorplan / place / cts / route / finish
解析报告目录，归档至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74320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A261"/>
                </a:solidFill>
              </a:rPr>
              <a:t>innovus.py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Innovus (stub)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22199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Cadence Innovus 接口预留
可扩展接入企业工具链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417320"/>
            <a:ext cx="2743200" cy="2240280"/>
          </a:xfrm>
          <a:prstGeom prst="rect">
            <a:avLst/>
          </a:prstGeom>
          <a:solidFill>
            <a:srgbClr val="14263A"/>
          </a:solidFill>
          <a:ln w="1905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7CFF"/>
                </a:solidFill>
              </a:rPr>
              <a:t>icc2.py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ICC2 (stub)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45168" y="2221992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Synopsys IC Compiler 2 接口预留
统一 AbstractEDABackend 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ORFS 流程阶段（顺序执行）：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24528"/>
            <a:ext cx="155448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24528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synth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2245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4224528"/>
            <a:ext cx="155448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4224528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floorplan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2245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4224528"/>
            <a:ext cx="155448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4224528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2245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94960" y="4224528"/>
            <a:ext cx="155448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4224528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2245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4224528"/>
            <a:ext cx="155448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224528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422452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4224528"/>
            <a:ext cx="1554480" cy="38404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4224528"/>
            <a:ext cx="1554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finish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模块详解 — Agent 层（ReAct Planner）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148840" cy="1417320"/>
          </a:xfrm>
          <a:prstGeom prst="rect">
            <a:avLst/>
          </a:prstGeom>
          <a:solidFill>
            <a:srgbClr val="1224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1 Build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system + memory history →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1005840"/>
            <a:ext cx="2148840" cy="1417320"/>
          </a:xfrm>
          <a:prstGeom prst="rect">
            <a:avLst/>
          </a:prstGeom>
          <a:solidFill>
            <a:srgbClr val="122438"/>
          </a:solidFill>
          <a:ln w="1905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1097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7CFF"/>
                </a:solidFill>
              </a:rPr>
              <a:t>2 Call MiniMax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48132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POST /text/chatcompletion_v2
model=MiniMax-Text-01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1456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82896" y="1005840"/>
            <a:ext cx="2148840" cy="1417320"/>
          </a:xfrm>
          <a:prstGeom prst="rect">
            <a:avLst/>
          </a:prstGeom>
          <a:solidFill>
            <a:srgbClr val="122438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1097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</a:rPr>
              <a:t>3 Tool Calls?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148132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解析 tool_calls 字段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41464" y="1005840"/>
            <a:ext cx="2148840" cy="1417320"/>
          </a:xfrm>
          <a:prstGeom prst="rect">
            <a:avLst/>
          </a:prstGeom>
          <a:solidFill>
            <a:srgbClr val="122438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1097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</a:rPr>
              <a:t>4 Execute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148132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execute_tool(fn_name, args)
结果追加到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1508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6E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00032" y="1005840"/>
            <a:ext cx="2148840" cy="1417320"/>
          </a:xfrm>
          <a:prstGeom prst="rect">
            <a:avLst/>
          </a:prstGeom>
          <a:solidFill>
            <a:srgbClr val="122438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91472" y="1097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5 Final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148132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finish_reason == stop
返回文本给用户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A261"/>
                </a:solidFill>
              </a:rPr>
              <a:t>若 tool_calls 存在 → 循环回步骤 1（最多 max_iterations 次）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54680"/>
            <a:ext cx="5486400" cy="1554480"/>
          </a:xfrm>
          <a:prstGeom prst="rect">
            <a:avLst/>
          </a:prstGeom>
          <a:solidFill>
            <a:srgbClr val="122438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218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AgentMemory (memory.py)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566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维护多轮对话消息列表（含 tool 消息）
• get_messages(system_prompt) 拼接完整上下文
• clear() 重置会话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154680"/>
            <a:ext cx="5577840" cy="1554480"/>
          </a:xfrm>
          <a:prstGeom prst="rect">
            <a:avLst/>
          </a:prstGeom>
          <a:solidFill>
            <a:srgbClr val="122438"/>
          </a:solidFill>
          <a:ln w="1270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218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7CFF"/>
                </a:solidFill>
              </a:rPr>
              <a:t>Planner (planner.py)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5661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封装 MiniMax API 调用（httpx）
• 支持 group_id → /text/chatcompletion_v2
• 可配置 model / max_iterations / 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系统提示词（System Prompt）定义 Agent 角色：ORFS / Innovus / ICC2 物理设计专家，目标为调优 PPA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模块详解 — Agent 工具集（tools.py）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143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</a:rPr>
              <a:t>run_eda_stage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490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运行 EDA 流程阶段
返回 run_id 与状态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5156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1143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query_timing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490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查询 WNS/TNS/失败端点
最差 Slack 路径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43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</a:rPr>
              <a:t>query_congestion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490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PostGIS 空间查询
拥塞热点多边形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05156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5168" y="1143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7CFF"/>
                </a:solidFill>
              </a:rPr>
              <a:t>query_utilization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1490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查询面积/利用率/单元数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query_power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290779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查询功耗分解
(内部/开关/泄漏/总计)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46888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B788"/>
                </a:solidFill>
              </a:rPr>
              <a:t>compare_runs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290779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对比两次运行的 PPA 差异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46888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</a:rPr>
              <a:t>suggest_params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90779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基于历史数据，LLM 建议
参数调整方案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468880"/>
            <a:ext cx="2834640" cy="1325880"/>
          </a:xfrm>
          <a:prstGeom prst="rect">
            <a:avLst/>
          </a:prstGeom>
          <a:solidFill>
            <a:srgbClr val="122438"/>
          </a:solidFill>
          <a:ln w="1905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560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7CFF"/>
                </a:solidFill>
              </a:rPr>
              <a:t>tune_ppa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5168" y="290779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自主调优循环：
建议→运行→验证 (最多 N 次)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所有工具以 OpenAI Function-Call JSON Schema 格式注册，LLM 可按需自动调用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模块详解 — 数据库层（db/）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97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backends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EDA 工具后端注册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8807" y="105156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88535" y="1097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designs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7607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RTL 设计元数据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4" y="105156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2" y="1097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</a:rPr>
              <a:t>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66374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流程阶段执行记录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9164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</a:rPr>
              <a:t>timing_summary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WNS / TNS / Fmax / 时钟偏斜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807" y="169164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5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7CFF"/>
                </a:solidFill>
              </a:rPr>
              <a:t>timing_paths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7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违例时序路径（start→end）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37574" y="169164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2" y="1737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</a:rPr>
              <a:t>congestion_hotspots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6374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拥塞热点多边形（PostGIS）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33172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</a:rPr>
              <a:t>utilization_summary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面积 / 利用率 / 单元数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807" y="233172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8535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7CFF"/>
                </a:solidFill>
              </a:rPr>
              <a:t>power_summary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7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功耗分解（W）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7574" y="233172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47302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drc_violations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6374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DRC 违规记录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97180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D6E0"/>
                </a:solidFill>
              </a:rPr>
              <a:t>artifacts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产出文件（.rpt/.def/.odb）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8807" y="297180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88535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agent_sessions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7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多轮对话历史持久化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37574" y="2971800"/>
            <a:ext cx="3749039" cy="566928"/>
          </a:xfrm>
          <a:prstGeom prst="rect">
            <a:avLst/>
          </a:prstGeom>
          <a:solidFill>
            <a:srgbClr val="122438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47302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users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4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API 多用户认证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806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技术栈：SQLAlchemy ORM  ·  GeoAlchemy2（PostGIS 空间索引）  ·  Alembic 迁移  ·  Parquet 归档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模块详解 — API 层 &amp; 任务队列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486400" cy="5029200"/>
          </a:xfrm>
          <a:prstGeom prst="rect">
            <a:avLst/>
          </a:prstGeom>
          <a:solidFill>
            <a:srgbClr val="10203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FastAPI  (api/)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POST /auth/token       — 获取 JWT
• POST /runs/            — 提交新运行
• GET  /runs/{id}        — 查询运行状态
• GET  /runs/{id}/timing — 获取时序指标
• POST /agent/chat       — 多轮对话接口
• WebSocket /agent/ws    — 实时流式对话
认证：JWT Bearer Token（bcrypt + python-jose）
多用户隔离：每会话独立 session_id
启动：uvicorn eda_agent.api.main:app --reload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05840"/>
            <a:ext cx="5577840" cy="5029200"/>
          </a:xfrm>
          <a:prstGeom prst="rect">
            <a:avLst/>
          </a:prstGeom>
          <a:solidFill>
            <a:srgbClr val="102034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51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2B788"/>
                </a:solidFill>
              </a:rPr>
              <a:t>Job Queue  (queue/)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store.py:
  • SQLite 轻量持久化（~/.eda_agent_jobs.db）
  • JobStatus: pending → running → success/failed
  • create_job / get_job / list_jobs / cancel_job
worker.py:
  • 后台进程轮询 pending 作业
  • 调用 backend.run_stage() 执行实际任务
  • 写入 log_path 与 error_message
启动：eda-agent-worker  或  自动随 submit 启动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工作流程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1051560"/>
            <a:ext cx="457200" cy="45720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33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81912"/>
            <a:ext cx="2194560" cy="3749040"/>
          </a:xfrm>
          <a:prstGeom prst="rect">
            <a:avLst/>
          </a:prstGeom>
          <a:solidFill>
            <a:srgbClr val="122438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184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环境准备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cp .env.example .env
docker compose up -d
pip install -e '.[dev]'
alembic upgrade head</a:t>
            </a:r>
          </a:p>
        </p:txBody>
      </p:sp>
      <p:sp>
        <p:nvSpPr>
          <p:cNvPr id="10" name="Oval 9"/>
          <p:cNvSpPr/>
          <p:nvPr/>
        </p:nvSpPr>
        <p:spPr>
          <a:xfrm>
            <a:off x="2633472" y="1051560"/>
            <a:ext cx="457200" cy="45720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1033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1581912"/>
            <a:ext cx="2194560" cy="3749040"/>
          </a:xfrm>
          <a:prstGeom prst="rect">
            <a:avLst/>
          </a:prstGeom>
          <a:solidFill>
            <a:srgbClr val="122438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6184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2B788"/>
                </a:solidFill>
              </a:rPr>
              <a:t>运行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201168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bash scripts/run_orfs_demo.sh
→ 自动执行 gcd 设计全流程
→ 解析报告并入库 PostgreSQL</a:t>
            </a:r>
          </a:p>
        </p:txBody>
      </p:sp>
      <p:sp>
        <p:nvSpPr>
          <p:cNvPr id="15" name="Oval 14"/>
          <p:cNvSpPr/>
          <p:nvPr/>
        </p:nvSpPr>
        <p:spPr>
          <a:xfrm>
            <a:off x="4946904" y="1051560"/>
            <a:ext cx="457200" cy="457200"/>
          </a:xfrm>
          <a:prstGeom prst="ellipse">
            <a:avLst/>
          </a:prstGeom>
          <a:solidFill>
            <a:srgbClr val="A8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1033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01184" y="1581912"/>
            <a:ext cx="2194560" cy="3749040"/>
          </a:xfrm>
          <a:prstGeom prst="rect">
            <a:avLst/>
          </a:prstGeom>
          <a:solidFill>
            <a:srgbClr val="122438"/>
          </a:solidFill>
          <a:ln w="1524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6184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7CFF"/>
                </a:solidFill>
              </a:rPr>
              <a:t>启动服务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201168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uvicorn eda_agent.api.main:app --reload
eda-agent-worker  (可选)</a:t>
            </a:r>
          </a:p>
        </p:txBody>
      </p:sp>
      <p:sp>
        <p:nvSpPr>
          <p:cNvPr id="20" name="Oval 19"/>
          <p:cNvSpPr/>
          <p:nvPr/>
        </p:nvSpPr>
        <p:spPr>
          <a:xfrm>
            <a:off x="7260336" y="1051560"/>
            <a:ext cx="457200" cy="4572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033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4616" y="1581912"/>
            <a:ext cx="2194560" cy="3749040"/>
          </a:xfrm>
          <a:prstGeom prst="rect">
            <a:avLst/>
          </a:prstGeom>
          <a:solidFill>
            <a:srgbClr val="122438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6056" y="16184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</a:rPr>
              <a:t>交互调优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06056" y="201168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eda-agent  →  进入 REPL
输入：Route the gcd design and report WNS
→ Agent 自动调用工具→分析→建议</a:t>
            </a:r>
          </a:p>
        </p:txBody>
      </p:sp>
      <p:sp>
        <p:nvSpPr>
          <p:cNvPr id="25" name="Oval 24"/>
          <p:cNvSpPr/>
          <p:nvPr/>
        </p:nvSpPr>
        <p:spPr>
          <a:xfrm>
            <a:off x="9573768" y="105156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3768" y="10332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28048" y="1581912"/>
            <a:ext cx="2194560" cy="3749040"/>
          </a:xfrm>
          <a:prstGeom prst="rect">
            <a:avLst/>
          </a:prstGeom>
          <a:solidFill>
            <a:srgbClr val="122438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9488" y="161848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异步提交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2011680"/>
            <a:ext cx="2057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eda-agent submit --backend orfs \
  --stage route --design gcd \
  --config /path/config.mk
eda-agent status &lt;job_id&gt;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CLI 使用 — 交互式 REPL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5303520"/>
          </a:xfrm>
          <a:prstGeom prst="rect">
            <a:avLst/>
          </a:prstGeom>
          <a:solidFill>
            <a:srgbClr val="08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B788"/>
                </a:solidFill>
              </a:rPr>
              <a:t>$ eda-agent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</a:rPr>
              <a:t>╔══════════════════════════════════════════════════════╗
║          EDA Agent  –  Interactive CLI               ║
║  Type 'help' for commands, 'exit' to quit.           ║
╚══════════════════════════════════════════════════════╝
eda-agent&gt; Route the gcd design and report WNS
Agent: I'll run the route stage for gcd...
  [calling run_eda_stage(backend='orfs', stage='route',
   design_name='gcd', pdk='sky130hd')]
  [calling query_timing(design_name='gcd', stage='route')]
  WNS: -0.08 ns  TNS: -1.24 ns  Failing EP: 3
  Suggestion: increase HOLD_SLACK_MARGIN to 0.1ns
eda-agent&gt; _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005840"/>
            <a:ext cx="5303520" cy="5303520"/>
          </a:xfrm>
          <a:prstGeom prst="rect">
            <a:avLst/>
          </a:prstGeom>
          <a:solidFill>
            <a:srgbClr val="10203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0607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内置命令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508760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48272" y="15087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清除当前会话记忆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984248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198424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84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显示消息历史（最多200字符/条）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2459736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245973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cd &lt;dir&gt;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5973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切换工作目录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2935224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293522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352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显示帮助信息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0840" y="3410712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41071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exit / quit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10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退出（Ctrl-D / Ctrl-C 同效）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3886200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88620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!&lt;shell_cmd&gt;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执行 Shell 命令，如 !ls -la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4361688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436168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↑ / 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61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历史导航（readline 支持）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4837176"/>
            <a:ext cx="1463040" cy="320040"/>
          </a:xfrm>
          <a:prstGeom prst="rect">
            <a:avLst/>
          </a:prstGeom>
          <a:solidFill>
            <a:srgbClr val="1A3250"/>
          </a:solidFill>
          <a:ln w="63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83717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0E0EF"/>
                </a:solidFill>
              </a:rPr>
              <a:t>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8371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自动补全：命令/路径/可执行文件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6E0"/>
                </a:solidFill>
              </a:rPr>
              <a:t>历史记录自动持久化到 ~/.eda_agent_history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CLI 使用 — 异步任务子命令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1521440" cy="914400"/>
          </a:xfrm>
          <a:prstGeom prst="rect">
            <a:avLst/>
          </a:prstGeom>
          <a:solidFill>
            <a:srgbClr val="102034"/>
          </a:solidFill>
          <a:ln w="1524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828800" cy="34747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eda-agent 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106424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E0EF"/>
                </a:solidFill>
              </a:rPr>
              <a:t>eda-agent submit --backend orfs --stage route \
  --design gcd --config /path/config.mk \
  --pdk sky130hd --param CORE_UTILIZATION=50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106424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提交异步 EDA 任务到队列，返回 job_id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11521440" cy="914400"/>
          </a:xfrm>
          <a:prstGeom prst="rect">
            <a:avLst/>
          </a:prstGeom>
          <a:solidFill>
            <a:srgbClr val="102034"/>
          </a:solidFill>
          <a:ln w="1524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1828800" cy="34747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eda-agent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112264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E0EF"/>
                </a:solidFill>
              </a:rPr>
              <a:t>eda-agent list
eda-agent list --status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112264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列出所有任务（可按状态过滤）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63240"/>
            <a:ext cx="11521440" cy="914400"/>
          </a:xfrm>
          <a:prstGeom prst="rect">
            <a:avLst/>
          </a:prstGeom>
          <a:solidFill>
            <a:srgbClr val="102034"/>
          </a:solidFill>
          <a:ln w="1524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1828800" cy="34747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eda-agent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118104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E0EF"/>
                </a:solidFill>
              </a:rPr>
              <a:t>eda-agent status &lt;job_id&gt;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118104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显示指定任务的详细状态
(backend / stage / 时间 / 错误信息)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069080"/>
            <a:ext cx="11521440" cy="914400"/>
          </a:xfrm>
          <a:prstGeom prst="rect">
            <a:avLst/>
          </a:prstGeom>
          <a:solidFill>
            <a:srgbClr val="102034"/>
          </a:solidFill>
          <a:ln w="1524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1828800" cy="347472"/>
          </a:xfrm>
          <a:prstGeom prst="rect">
            <a:avLst/>
          </a:prstGeom>
          <a:solidFill>
            <a:srgbClr val="A8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eda-agent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123944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E0EF"/>
                </a:solidFill>
              </a:rPr>
              <a:t>eda-agent logs &lt;job_id&gt;
eda-agent logs &lt;job_id&gt; --follow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123944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打印任务日志；--follow 类似 tail -f
等待任务产生日志文件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074920"/>
            <a:ext cx="11521440" cy="914400"/>
          </a:xfrm>
          <a:prstGeom prst="rect">
            <a:avLst/>
          </a:prstGeom>
          <a:solidFill>
            <a:srgbClr val="102034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8288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6636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eda-agent cancel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129784"/>
            <a:ext cx="52120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E0EF"/>
                </a:solidFill>
              </a:rPr>
              <a:t>eda-agent cancel &lt;job_id&gt;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129784"/>
            <a:ext cx="3840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取消 pending 状态的任务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额外命令：eda-agent-server（启动 API）  ·  eda-agent-worker（启动后台 Worker）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环境变量配置（.env）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7CFF"/>
                </a:solidFill>
              </a:rPr>
              <a:t>MINIMAX_API_KEY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MiniMax API 密钥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51560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097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7CFF"/>
                </a:solidFill>
              </a:rPr>
              <a:t>MINIMAX_GROUP_ID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MiniMax 组织 / Group 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00784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7465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7CFF"/>
                </a:solidFill>
              </a:rPr>
              <a:t>MINIMAX_MODEL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7465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模型名称（默认 MiniMax-Text-01）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00784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17465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</a:rPr>
              <a:t>POSTGRES_HOST/PORT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7465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PostgreSQL 连接信息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50008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395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B788"/>
                </a:solidFill>
              </a:rPr>
              <a:t>POSTGRES_DB/USER/PASS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395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数据库名/用户/密码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350008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395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</a:rPr>
              <a:t>ORFS_ROOT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3957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OpenROAD-flow-scripts 绝对路径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99232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044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PARQUET_ARCHIVE_DIR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044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Parquet 归档目录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999232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30449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API_SECRET_KEY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044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256-bit 随机密钥（JWT 签名）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48456"/>
            <a:ext cx="5577840" cy="594360"/>
          </a:xfrm>
          <a:prstGeom prst="rect">
            <a:avLst/>
          </a:prstGeom>
          <a:solidFill>
            <a:srgbClr val="102034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6941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AGENT_MAX_ITERATIONS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369417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ReAct 最大循环次数（默认 10）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复制 .env.example → .env，填写所有必要字段后启动服务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</a:rPr>
              <a:t>发展路线图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704" y="914400"/>
            <a:ext cx="10058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2743200" cy="4206240"/>
          </a:xfrm>
          <a:prstGeom prst="rect">
            <a:avLst/>
          </a:prstGeom>
          <a:solidFill>
            <a:srgbClr val="102236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2743200" cy="10972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B788"/>
                </a:solidFill>
              </a:rPr>
              <a:t>Phase 1 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ORFS Demo 集成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039112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• gcd 设计全流程跑通
• 报告解析（timing/congestion/utilization）
• PostgreSQL 数据入库
• Parquet 归档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1256" y="1051560"/>
            <a:ext cx="2743200" cy="4206240"/>
          </a:xfrm>
          <a:prstGeom prst="rect">
            <a:avLst/>
          </a:prstGeom>
          <a:solidFill>
            <a:srgbClr val="102236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91256" y="1051560"/>
            <a:ext cx="27432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0984" y="1188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Phase 2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984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Agent MVP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2039112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• MiniMax ReAct Planner
• query_timing + compare_runs 工具
• 交互式 CLI REPL
• 多轮对话记忆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1051560"/>
            <a:ext cx="2743200" cy="4206240"/>
          </a:xfrm>
          <a:prstGeom prst="rect">
            <a:avLst/>
          </a:prstGeom>
          <a:solidFill>
            <a:srgbClr val="102236"/>
          </a:solidFill>
          <a:ln w="19050">
            <a:solidFill>
              <a:srgbClr val="A8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2472" y="1051560"/>
            <a:ext cx="2743200" cy="109728"/>
          </a:xfrm>
          <a:prstGeom prst="rect">
            <a:avLst/>
          </a:prstGeom>
          <a:solidFill>
            <a:srgbClr val="A8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188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7CFF"/>
                </a:solidFill>
              </a:rPr>
              <a:t>Phase 3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自主调优循环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39112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• run_eda_stage + suggest_params 工具
• tune_ppa 自动迭代
• 异步任务队列（JobStore + Worker）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051560"/>
            <a:ext cx="2743200" cy="4206240"/>
          </a:xfrm>
          <a:prstGeom prst="rect">
            <a:avLst/>
          </a:prstGeom>
          <a:solidFill>
            <a:srgbClr val="102236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8" y="1051560"/>
            <a:ext cx="2743200" cy="1097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1887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</a:rPr>
              <a:t>Phase 4 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完整平台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2039112"/>
            <a:ext cx="2560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6E0"/>
                </a:solidFill>
              </a:rPr>
              <a:t>• FastAPI 多用户服务 + JWT 认证
• Parquet 归档 + DRC 解析
• Innovus / ICC2 后端接口预留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0E0EF"/>
                </a:solidFill>
              </a:rPr>
              <a:t>当前状态：四个 Phase 均已完成，平台可用于生产 Demo 验证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🏗️  清晰的分层架构：接入 → Agent → 工具 → 后端 → 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470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🤖  MiniMax ReAct Planner 实现多步骤自主 EDA 调优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2257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⚡  8 大工具覆盖运行/查询/比较/建议/自主调优全流程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980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🔌  ORFS 完整实现，Innovus / ICC2 接口易于扩展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735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💾  PostgreSQL + PostGIS 空间数据库，全量历史可查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🖥️  CLI + REST API 双接入，同步/异步灵活选择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90E0EF"/>
                </a:solidFill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